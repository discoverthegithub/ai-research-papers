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Old Way vs. The SimVLM 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Philosophy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828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023360" cy="3383280"/>
          </a:xfrm>
          <a:prstGeom prst="rect">
            <a:avLst/>
          </a:prstGeom>
          <a:solidFill>
            <a:srgbClr val="132231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The Old Way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Human Labels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911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Mahngay annotations, har image ko manually tag karna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Object Detector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pipeline, pehle objects dhundho, phir describe karo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4-5 Loss Functions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Alag alag objectives: contrastive, captioning, detection, matching...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🤯 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136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Complicated, costly, brittle — ek cheez change karo, sab toot jata hai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143000"/>
            <a:ext cx="4297680" cy="3383280"/>
          </a:xfrm>
          <a:prstGeom prst="rect">
            <a:avLst/>
          </a:prstGeom>
          <a:solidFill>
            <a:srgbClr val="132231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143000"/>
            <a:ext cx="4297680" cy="41148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143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The SimVLM Way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09160" y="1664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No Human Labels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911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 scrape — noisy hai, lekin billions mein hai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331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No Object Detector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2578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khud images samajhta hai, koi preprocessing nahi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 Single Task Only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Sirf ek cheez: next token predict karo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6667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1 Million Times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Wohi ek task, bar bar, scale par — simplicity hi power hai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2286000"/>
            <a:ext cx="548640" cy="5486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FC2"/>
                </a:solidFill>
              </a:rPr>
              <a:t>⏱ 30 Seconds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'Textbooks' — Data Recipe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 + C4 Mixing Strategy &amp; Batch Composition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3977640" cy="1691640"/>
          </a:xfrm>
          <a:prstGeom prst="rect">
            <a:avLst/>
          </a:prstGeom>
          <a:solidFill>
            <a:srgbClr val="132231"/>
          </a:solidFill>
          <a:ln w="12700">
            <a:solidFill>
              <a:srgbClr val="2A3D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📷  ALIGN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81328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1.8 Billion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image-text pairs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Source: 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Web scraping (noisy / weak supervision)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Type: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Images + alt-text (ghalat-tang text bhi)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4297680" cy="1691640"/>
          </a:xfrm>
          <a:prstGeom prst="rect">
            <a:avLst/>
          </a:prstGeom>
          <a:solidFill>
            <a:srgbClr val="132231"/>
          </a:solidFill>
          <a:ln w="12700">
            <a:solidFill>
              <a:srgbClr val="2A3D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143000"/>
            <a:ext cx="64008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C4 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4813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800 GB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clean text-only data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Source: 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Colossal Clean Crawled Corpus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8EAFC2"/>
                </a:solidFill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Sahi grammar sikhana (ALIGN dirty tha)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8595360" cy="1572768"/>
          </a:xfrm>
          <a:prstGeom prst="rect">
            <a:avLst/>
          </a:prstGeom>
          <a:solidFill>
            <a:srgbClr val="1A0A3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💎  Paper Ka Hidden Gem: The Exact Batch Formula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292608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649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4,096</a:t>
            </a:r>
            <a:endParaRPr lang="en-US" sz="2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ALIGN image-text pairs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35021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+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931920" y="3364992"/>
            <a:ext cx="2377440" cy="685800"/>
          </a:xfrm>
          <a:prstGeom prst="rect">
            <a:avLst/>
          </a:prstGeom>
          <a:solidFill>
            <a:srgbClr val="4A300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36499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61"/>
                </a:solidFill>
              </a:rPr>
              <a:t>512</a:t>
            </a:r>
            <a:endParaRPr lang="en-US" sz="2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C4 text-only docs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3493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4F8"/>
                </a:solidFill>
              </a:rPr>
              <a:t>= Per Batch (har ek step mein fixed ratio)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FC2"/>
                </a:solidFill>
              </a:rPr>
              <a:t>⏱ 1 Minute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PrefixLM: Read Deeply, Write Left-to-Right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39B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Star Point — The 'Exam Format'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82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8595360" cy="1645920"/>
          </a:xfrm>
          <a:prstGeom prst="rect">
            <a:avLst/>
          </a:prstGeom>
          <a:solidFill>
            <a:srgbClr val="132231"/>
          </a:solidFill>
          <a:ln w="12700">
            <a:solidFill>
              <a:srgbClr val="2A3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1 — Image + Text Pair (ALIGN data)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474720" cy="1097280"/>
          </a:xfrm>
          <a:prstGeom prst="rect">
            <a:avLst/>
          </a:prstGeom>
          <a:solidFill>
            <a:srgbClr val="0A26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PREFIX  ↔ Bidirectional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19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🖼️ Image Tokens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A261"/>
                </a:solidFill>
              </a:rPr>
              <a:t>+ 'A dog is'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1828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34840" y="1463040"/>
            <a:ext cx="3474720" cy="1097280"/>
          </a:xfrm>
          <a:prstGeom prst="rect">
            <a:avLst/>
          </a:prstGeom>
          <a:solidFill>
            <a:srgbClr val="200A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463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39BD3"/>
                </a:solidFill>
              </a:rPr>
              <a:t>GENERATE  → Left-to-Right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1719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'running in snow' 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777240" cy="1097280"/>
          </a:xfrm>
          <a:prstGeom prst="rect">
            <a:avLst/>
          </a:prstGeom>
          <a:solidFill>
            <a:srgbClr val="0D2B0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46304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LOSS 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calc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8595360" cy="1600200"/>
          </a:xfrm>
          <a:prstGeom prst="rect">
            <a:avLst/>
          </a:prstGeom>
          <a:solidFill>
            <a:srgbClr val="132231"/>
          </a:solidFill>
          <a:ln w="12700">
            <a:solidFill>
              <a:srgbClr val="2A3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80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2 — Text Only (C4 data)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3474720" cy="1097280"/>
          </a:xfrm>
          <a:prstGeom prst="rect">
            <a:avLst/>
          </a:prstGeom>
          <a:solidFill>
            <a:srgbClr val="0A26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PREFIX  ↔ Bidirectional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</a:rPr>
              <a:t>'The cat sat on'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3566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59B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434840" y="3200400"/>
            <a:ext cx="3474720" cy="1097280"/>
          </a:xfrm>
          <a:prstGeom prst="rect">
            <a:avLst/>
          </a:prstGeom>
          <a:solidFill>
            <a:srgbClr val="200A2A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39BD3"/>
                </a:solidFill>
              </a:rPr>
              <a:t>GENERATE  → Left-to-Right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34840" y="34564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'the mat'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55280" y="3200400"/>
            <a:ext cx="777240" cy="1097280"/>
          </a:xfrm>
          <a:prstGeom prst="rect">
            <a:avLst/>
          </a:prstGeom>
          <a:solidFill>
            <a:srgbClr val="0D2B0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320040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LOSS 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</a:rPr>
              <a:t>calc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5079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39BD3"/>
                </a:solidFill>
              </a:rPr>
              <a:t>✨ Ek hi exam pattern — dono textbooks (Images + Text) ke liye. Koi alag complex setup nahi!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FC2"/>
                </a:solidFill>
              </a:rPr>
              <a:t>⭐ 1.5 Minutes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4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'Gym Routine' — Optimization &amp; Fine-tuning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8D6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Pretraining Setup → Fine-tuning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572768" cy="1188720"/>
          </a:xfrm>
          <a:prstGeom prst="rect">
            <a:avLst/>
          </a:prstGeom>
          <a:solidFill>
            <a:srgbClr val="13223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1M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Training Steps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097280"/>
            <a:ext cx="1572768" cy="1188720"/>
          </a:xfrm>
          <a:prstGeom prst="rect">
            <a:avLst/>
          </a:prstGeom>
          <a:solidFill>
            <a:srgbClr val="13223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09728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512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2024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TPU Chips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1097280"/>
            <a:ext cx="1572768" cy="1188720"/>
          </a:xfrm>
          <a:prstGeom prst="rect">
            <a:avLst/>
          </a:prstGeom>
          <a:solidFill>
            <a:srgbClr val="13223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09728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AdamW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Optimizer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1097280"/>
            <a:ext cx="1572768" cy="1188720"/>
          </a:xfrm>
          <a:prstGeom prst="rect">
            <a:avLst/>
          </a:prstGeom>
          <a:solidFill>
            <a:srgbClr val="13223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12080" y="109728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2% Warmup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LR Schedule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097280"/>
            <a:ext cx="1572768" cy="1188720"/>
          </a:xfrm>
          <a:prstGeom prst="rect">
            <a:avLst/>
          </a:prstGeom>
          <a:solidFill>
            <a:srgbClr val="132231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109728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170432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Dropout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OFF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Huge data = no need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2377440"/>
            <a:ext cx="822960" cy="45720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⬇ FINE-TUNE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834640"/>
            <a:ext cx="4114800" cy="1965960"/>
          </a:xfrm>
          <a:prstGeom prst="rect">
            <a:avLst/>
          </a:prstGeom>
          <a:solidFill>
            <a:srgbClr val="132231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834640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34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🎯  Fine-tuning: Small Datasets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218688"/>
            <a:ext cx="3886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Datasets: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VQA, COCO, NoCaps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Approach: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Same PrefixLM task, chote domain-specific data par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Result: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General model → Task-specific champion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834640"/>
            <a:ext cx="4206240" cy="1965960"/>
          </a:xfrm>
          <a:prstGeom prst="rect">
            <a:avLst/>
          </a:prstGeom>
          <a:solidFill>
            <a:srgbClr val="1A2A0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834640"/>
            <a:ext cx="4206240" cy="347472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8346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4F8"/>
                </a:solidFill>
              </a:rPr>
              <a:t>🔑  The Dropout Trick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218688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Pretraining: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Dropout = OFF
</a:t>
            </a:r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(Data bohat zyada, overfit ka khauff nahi)
</a:t>
            </a:r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Fine-tuning: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Dropout = ON ✅
</a:t>
            </a:r>
            <a:pPr indent="0" marL="0">
              <a:buNone/>
            </a:pPr>
            <a:r>
              <a:rPr lang="en-US" sz="900" dirty="0">
                <a:solidFill>
                  <a:srgbClr val="8EAFC2"/>
                </a:solidFill>
              </a:rPr>
              <a:t>(Chote dataset ko rat na le — overfit rok!)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FC2"/>
                </a:solidFill>
              </a:rPr>
              <a:t>⏱ 1 Minute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SimVLM Training Deep Dive</dc:title>
  <dc:subject>PptxGenJS Presentation</dc:subject>
  <dc:creator>PptxGenJS</dc:creator>
  <cp:lastModifiedBy>PptxGenJS</cp:lastModifiedBy>
  <cp:revision>1</cp:revision>
  <dcterms:created xsi:type="dcterms:W3CDTF">2026-04-21T04:28:24Z</dcterms:created>
  <dcterms:modified xsi:type="dcterms:W3CDTF">2026-04-21T04:28:24Z</dcterms:modified>
</cp:coreProperties>
</file>